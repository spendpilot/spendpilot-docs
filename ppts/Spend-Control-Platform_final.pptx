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59" r:id="rId4"/>
    <p:sldId id="260" r:id="rId5"/>
    <p:sldId id="263" r:id="rId6"/>
    <p:sldId id="266" r:id="rId7"/>
    <p:sldId id="261" r:id="rId8"/>
    <p:sldId id="262" r:id="rId9"/>
    <p:sldId id="264" r:id="rId10"/>
  </p:sldIdLst>
  <p:sldSz cx="9144000" cy="5143500" type="screen16x9"/>
  <p:notesSz cx="5143500" cy="9144000"/>
  <p:embeddedFontLst>
    <p:embeddedFont>
      <p:font typeface="Libre Baskerville" panose="02000000000000000000" pitchFamily="2" charset="0"/>
      <p:regular r:id="rId12"/>
    </p:embeddedFont>
    <p:embeddedFont>
      <p:font typeface="Open Sans" panose="020B0606030504020204" pitchFamily="34" charset="0"/>
      <p:regular r:id="rId13"/>
      <p:bold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B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080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8427A-C360-C307-9E12-94B15C99E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AFFDA-63A2-0AD1-2E7B-680E737FC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8FCB8-F88B-5DF9-9DD7-B28C01AE6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590C5-ED34-C951-F3A9-203E587A5D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399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6CAB3-F66D-0EC7-04BB-F74CBB7B7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CA62E7-0FDF-D4DE-377D-B781AFB7F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90F62-032D-4B7A-A0FD-E119EFD68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1348D-7F4E-2DA0-C356-2658401C71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71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37878" y="466048"/>
            <a:ext cx="483215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 err="1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SpendPilot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8" y="121623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multi-tenant finance SaaS deployed on Microsoft Azure — built to solve fragmented expense management with cloud-native architecture, infrastructure as code, and automated DevOps pipelines.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AB60FB-B629-AD68-3099-5CFE89E373D0}"/>
              </a:ext>
            </a:extLst>
          </p:cNvPr>
          <p:cNvSpPr/>
          <p:nvPr/>
        </p:nvSpPr>
        <p:spPr>
          <a:xfrm>
            <a:off x="8046720" y="4832252"/>
            <a:ext cx="1041009" cy="253219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188811-5D5D-53CE-9F20-BEE364BD4470}"/>
              </a:ext>
            </a:extLst>
          </p:cNvPr>
          <p:cNvCxnSpPr/>
          <p:nvPr/>
        </p:nvCxnSpPr>
        <p:spPr>
          <a:xfrm>
            <a:off x="281354" y="4215998"/>
            <a:ext cx="8454683" cy="633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3">
            <a:extLst>
              <a:ext uri="{FF2B5EF4-FFF2-40B4-BE49-F238E27FC236}">
                <a16:creationId xmlns:a16="http://schemas.microsoft.com/office/drawing/2014/main" id="{F9B81112-BD02-1EE1-997F-A949839C6D97}"/>
              </a:ext>
            </a:extLst>
          </p:cNvPr>
          <p:cNvSpPr/>
          <p:nvPr/>
        </p:nvSpPr>
        <p:spPr>
          <a:xfrm>
            <a:off x="553472" y="4521490"/>
            <a:ext cx="1043212" cy="311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Lijaz Salim</a:t>
            </a:r>
            <a:endParaRPr lang="en-US" sz="11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A93038D7-A93F-4C39-2527-385F67AC4A11}"/>
              </a:ext>
            </a:extLst>
          </p:cNvPr>
          <p:cNvSpPr/>
          <p:nvPr/>
        </p:nvSpPr>
        <p:spPr>
          <a:xfrm>
            <a:off x="482049" y="1897859"/>
            <a:ext cx="4034730" cy="980703"/>
          </a:xfrm>
          <a:prstGeom prst="roundRect">
            <a:avLst>
              <a:gd name="adj" fmla="val 20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F492D3F0-9FDC-2283-4F40-38EFC36324C9}"/>
              </a:ext>
            </a:extLst>
          </p:cNvPr>
          <p:cNvSpPr/>
          <p:nvPr/>
        </p:nvSpPr>
        <p:spPr>
          <a:xfrm>
            <a:off x="617111" y="203292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Budgets</a:t>
            </a:r>
            <a:endParaRPr lang="en-US" sz="13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0F3AC4C2-82F4-CAEF-B154-390A7872B8CF}"/>
              </a:ext>
            </a:extLst>
          </p:cNvPr>
          <p:cNvSpPr/>
          <p:nvPr/>
        </p:nvSpPr>
        <p:spPr>
          <a:xfrm>
            <a:off x="617111" y="2321275"/>
            <a:ext cx="37646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Plan, track, and enforce spending limits per department or project</a:t>
            </a:r>
            <a:endParaRPr lang="en-US" sz="105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7F71DFEE-4132-3BD8-FC07-817D18468FAC}"/>
              </a:ext>
            </a:extLst>
          </p:cNvPr>
          <p:cNvSpPr/>
          <p:nvPr/>
        </p:nvSpPr>
        <p:spPr>
          <a:xfrm>
            <a:off x="4645516" y="1897859"/>
            <a:ext cx="4034730" cy="980703"/>
          </a:xfrm>
          <a:prstGeom prst="roundRect">
            <a:avLst>
              <a:gd name="adj" fmla="val 20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E66CCBF1-3372-7BE6-B8BB-6712CCE86FF2}"/>
              </a:ext>
            </a:extLst>
          </p:cNvPr>
          <p:cNvSpPr/>
          <p:nvPr/>
        </p:nvSpPr>
        <p:spPr>
          <a:xfrm>
            <a:off x="4780578" y="2032921"/>
            <a:ext cx="191340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Expenses &amp; Approvals</a:t>
            </a:r>
            <a:endParaRPr lang="en-US" sz="13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A0AFFBF8-B55C-E074-F83B-76DEBE9714DB}"/>
              </a:ext>
            </a:extLst>
          </p:cNvPr>
          <p:cNvSpPr/>
          <p:nvPr/>
        </p:nvSpPr>
        <p:spPr>
          <a:xfrm>
            <a:off x="4780578" y="2321275"/>
            <a:ext cx="37646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Submit, review, and approve expenses through structured multi-level workflows</a:t>
            </a:r>
            <a:endParaRPr lang="en-US" sz="105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95922AFB-398D-932B-3D02-D0C94F422B1A}"/>
              </a:ext>
            </a:extLst>
          </p:cNvPr>
          <p:cNvSpPr/>
          <p:nvPr/>
        </p:nvSpPr>
        <p:spPr>
          <a:xfrm>
            <a:off x="482049" y="3007299"/>
            <a:ext cx="4034730" cy="980703"/>
          </a:xfrm>
          <a:prstGeom prst="roundRect">
            <a:avLst>
              <a:gd name="adj" fmla="val 20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952E452F-A2CD-8A38-2667-927375BE8808}"/>
              </a:ext>
            </a:extLst>
          </p:cNvPr>
          <p:cNvSpPr/>
          <p:nvPr/>
        </p:nvSpPr>
        <p:spPr>
          <a:xfrm>
            <a:off x="617111" y="3142360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Documents &amp; AI</a:t>
            </a:r>
            <a:endParaRPr lang="en-US" sz="13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887B2247-E1D3-7B2A-0813-F6E525958367}"/>
              </a:ext>
            </a:extLst>
          </p:cNvPr>
          <p:cNvSpPr/>
          <p:nvPr/>
        </p:nvSpPr>
        <p:spPr>
          <a:xfrm>
            <a:off x="617111" y="3430715"/>
            <a:ext cx="37646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receipts and invoices — AI extracts key fields automatically</a:t>
            </a:r>
            <a:endParaRPr lang="en-US" sz="1050" dirty="0"/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CB01546A-222C-9942-56CD-0747957A23EE}"/>
              </a:ext>
            </a:extLst>
          </p:cNvPr>
          <p:cNvSpPr/>
          <p:nvPr/>
        </p:nvSpPr>
        <p:spPr>
          <a:xfrm>
            <a:off x="4645516" y="3007299"/>
            <a:ext cx="4034730" cy="980703"/>
          </a:xfrm>
          <a:prstGeom prst="roundRect">
            <a:avLst>
              <a:gd name="adj" fmla="val 20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05BC3188-32D2-1613-05A0-F65A096BB12F}"/>
              </a:ext>
            </a:extLst>
          </p:cNvPr>
          <p:cNvSpPr/>
          <p:nvPr/>
        </p:nvSpPr>
        <p:spPr>
          <a:xfrm>
            <a:off x="4780578" y="3142360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Audit Visibility</a:t>
            </a:r>
            <a:endParaRPr lang="en-US" sz="1300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AFED3A5B-FBB0-AC19-741A-DCAD1E240988}"/>
              </a:ext>
            </a:extLst>
          </p:cNvPr>
          <p:cNvSpPr/>
          <p:nvPr/>
        </p:nvSpPr>
        <p:spPr>
          <a:xfrm>
            <a:off x="4780578" y="3430715"/>
            <a:ext cx="37646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traceability across every transaction, approval, and document change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86378-FCA9-35BE-C55E-6A5C9326F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A5046-5B31-48F3-AC83-902EFC4EA945}"/>
              </a:ext>
            </a:extLst>
          </p:cNvPr>
          <p:cNvSpPr/>
          <p:nvPr/>
        </p:nvSpPr>
        <p:spPr>
          <a:xfrm>
            <a:off x="8046720" y="4832252"/>
            <a:ext cx="1041009" cy="253219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E817D42E-1755-C449-7F94-E30512329A30}"/>
              </a:ext>
            </a:extLst>
          </p:cNvPr>
          <p:cNvSpPr/>
          <p:nvPr/>
        </p:nvSpPr>
        <p:spPr>
          <a:xfrm>
            <a:off x="221865" y="198397"/>
            <a:ext cx="3310607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Application Architecture</a:t>
            </a:r>
            <a:endParaRPr lang="en-US" sz="175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11888D8-7A6C-A4D1-A681-CF437658E159}"/>
              </a:ext>
            </a:extLst>
          </p:cNvPr>
          <p:cNvGrpSpPr/>
          <p:nvPr/>
        </p:nvGrpSpPr>
        <p:grpSpPr>
          <a:xfrm>
            <a:off x="866211" y="921434"/>
            <a:ext cx="6841376" cy="3642433"/>
            <a:chOff x="756130" y="921434"/>
            <a:chExt cx="6841376" cy="364243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753AE13-AA3A-BD4B-1AF7-FDBF6CB24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6130" y="921434"/>
              <a:ext cx="6841376" cy="3642433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4459F7-62F3-3529-AFF1-BFF396035AC6}"/>
                </a:ext>
              </a:extLst>
            </p:cNvPr>
            <p:cNvSpPr/>
            <p:nvPr/>
          </p:nvSpPr>
          <p:spPr>
            <a:xfrm>
              <a:off x="756130" y="970671"/>
              <a:ext cx="1839359" cy="2813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690327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21865" y="113990"/>
            <a:ext cx="3310607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Cloud Architecture</a:t>
            </a:r>
            <a:endParaRPr lang="en-US" sz="1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4BD5B6-AF66-3912-E2F4-0AC8930B1B8E}"/>
              </a:ext>
            </a:extLst>
          </p:cNvPr>
          <p:cNvSpPr/>
          <p:nvPr/>
        </p:nvSpPr>
        <p:spPr>
          <a:xfrm>
            <a:off x="8046720" y="4832252"/>
            <a:ext cx="1041009" cy="253219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B10DE31-B93B-A593-1E0C-E9FE4F354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38" y="464234"/>
            <a:ext cx="8183581" cy="45652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30870"/>
            <a:ext cx="1504727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403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5936" y="578123"/>
            <a:ext cx="178229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AZURE INFRASTRUCTURE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63501"/>
            <a:ext cx="433640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Azure Cloud Services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51908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layer maps to a purpose-built Azure service — cloud-native, fully managed, and isolated by design.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1905372"/>
            <a:ext cx="815176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Azure Front Door + WAF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Global entry point with threat protection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AKS + kGateway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Container orchestration and L7 routing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PostgreSQL Flexible Server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Managed relational database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Azure Blob Storage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Document and receipt storage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Azure AI Document Intelligence + OpenAI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Intelligent extraction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 Analytics + App Insights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Observability stack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7CC661-EA4F-58F8-994B-5DE26ED20075}"/>
              </a:ext>
            </a:extLst>
          </p:cNvPr>
          <p:cNvSpPr/>
          <p:nvPr/>
        </p:nvSpPr>
        <p:spPr>
          <a:xfrm>
            <a:off x="8046720" y="4832252"/>
            <a:ext cx="1041009" cy="253219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47254"/>
            <a:ext cx="686172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403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5936" y="694506"/>
            <a:ext cx="96373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79884"/>
            <a:ext cx="675419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Identity, Security &amp; Access Control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635472"/>
            <a:ext cx="2641774" cy="17621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077" y="17962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Microsoft Entra ID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4077" y="2102793"/>
            <a:ext cx="224395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authenticate via Entra ID. Separate app registrations for frontend (SPA) and backend (API) enforce least-privilege OAuth2 scopes.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1551" y="1635472"/>
            <a:ext cx="2641774" cy="17621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8560" y="17962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Workload Identity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78560" y="2102793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AKS pods use </a:t>
            </a: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Workload Identity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access Blob Storage, AI services, and ACR — no static secrets in code or config.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6033" y="1635472"/>
            <a:ext cx="2641774" cy="17621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43042" y="17962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Managed Identities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243042" y="2102793"/>
            <a:ext cx="224395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Azure services (PostgreSQL, Storage, AI) use managed identities for secure, passwordless service-to-service communication.</a:t>
            </a: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3DA8A4-8DC4-2F68-99CF-989570CD08E2}"/>
              </a:ext>
            </a:extLst>
          </p:cNvPr>
          <p:cNvSpPr/>
          <p:nvPr/>
        </p:nvSpPr>
        <p:spPr>
          <a:xfrm>
            <a:off x="8046720" y="4832252"/>
            <a:ext cx="1041009" cy="253219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D63A9-EDE3-F45A-56DF-417269F7D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BE0FE2D-A069-F118-4147-1541E57C2E09}"/>
              </a:ext>
            </a:extLst>
          </p:cNvPr>
          <p:cNvSpPr/>
          <p:nvPr/>
        </p:nvSpPr>
        <p:spPr>
          <a:xfrm>
            <a:off x="559424" y="363084"/>
            <a:ext cx="675419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Terraform structure</a:t>
            </a:r>
            <a:endParaRPr lang="en-US" sz="2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D9E317-4C72-3023-2C05-5953C187CCE7}"/>
              </a:ext>
            </a:extLst>
          </p:cNvPr>
          <p:cNvSpPr/>
          <p:nvPr/>
        </p:nvSpPr>
        <p:spPr>
          <a:xfrm>
            <a:off x="8046720" y="4832252"/>
            <a:ext cx="1041009" cy="253219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6B8A811-5272-E362-87C7-9D616A921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63" y="1132008"/>
            <a:ext cx="2918713" cy="341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15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029" y="274365"/>
            <a:ext cx="783654" cy="177850"/>
          </a:xfrm>
          <a:prstGeom prst="roundRect">
            <a:avLst>
              <a:gd name="adj" fmla="val 6726"/>
            </a:avLst>
          </a:prstGeom>
          <a:noFill/>
          <a:ln w="4763">
            <a:solidFill>
              <a:srgbClr val="403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197546" y="308967"/>
            <a:ext cx="1111821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DEVOPS PIPELINE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133029" y="480194"/>
            <a:ext cx="5031656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CI/CD &amp; Infrastructure Automation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029" y="896764"/>
            <a:ext cx="6877869" cy="30169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17423" y="2896776"/>
            <a:ext cx="1039485" cy="186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Authenticate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217423" y="3135838"/>
            <a:ext cx="1039485" cy="50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OIDC to Azure and Terraform init with remote backend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19619" y="3023545"/>
            <a:ext cx="1039484" cy="186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Release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19619" y="3262607"/>
            <a:ext cx="1039484" cy="38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image, push to ACR, deploy to AKS via Helm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602722" y="1167921"/>
            <a:ext cx="1039485" cy="186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Code Push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602722" y="1406983"/>
            <a:ext cx="1039485" cy="38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Developer pushes branch, triggers GitHub Actions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891683" y="1167921"/>
            <a:ext cx="1039484" cy="186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Provision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891683" y="1406983"/>
            <a:ext cx="1039484" cy="38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Terraform plan &amp; apply to update Azure infra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029" y="3992538"/>
            <a:ext cx="6877869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Actions uses </a:t>
            </a:r>
            <a:r>
              <a:rPr lang="en-US" sz="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OIDC federation</a:t>
            </a: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secretless Azure authentication. Terraform manages infrastructure; container builds and Helm deployments handle application releases — fully automated on every merge.</a:t>
            </a:r>
            <a:endParaRPr lang="en-US" sz="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16BA8D-F1E1-54C9-C29C-D479FF36E28B}"/>
              </a:ext>
            </a:extLst>
          </p:cNvPr>
          <p:cNvSpPr/>
          <p:nvPr/>
        </p:nvSpPr>
        <p:spPr>
          <a:xfrm>
            <a:off x="8046720" y="4832252"/>
            <a:ext cx="1041009" cy="253219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2431"/>
            <a:ext cx="1620664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403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5936" y="449684"/>
            <a:ext cx="189822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INFRASTRUCTURE AS CODE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35062"/>
            <a:ext cx="746224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Terraform Workspace &amp; State Strategy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23475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Remote Backend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66881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 stored in </a:t>
            </a: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Azure Blob Storage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enabling team collaboration, locking, and audit history.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2108225"/>
            <a:ext cx="22574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Workspace Strategy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254228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Dev/Staging/Prod </a:t>
            </a:r>
            <a:r>
              <a:rPr lang="en-US" sz="110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98169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6119" y="341575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Isolated state per environment prevents accidental cross-environment changes and supports safe promotion workflows.</a:t>
            </a:r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70C48F-86D5-6024-2A86-F4F67D9C4814}"/>
              </a:ext>
            </a:extLst>
          </p:cNvPr>
          <p:cNvSpPr/>
          <p:nvPr/>
        </p:nvSpPr>
        <p:spPr>
          <a:xfrm>
            <a:off x="8046720" y="4832252"/>
            <a:ext cx="1041009" cy="253219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349" y="383158"/>
            <a:ext cx="1330970" cy="248543"/>
          </a:xfrm>
          <a:prstGeom prst="roundRect">
            <a:avLst>
              <a:gd name="adj" fmla="val 6310"/>
            </a:avLst>
          </a:prstGeom>
          <a:noFill/>
          <a:ln w="4763">
            <a:solidFill>
              <a:srgbClr val="403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0469" y="427062"/>
            <a:ext cx="162192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LESSONS &amp; TAKEAWAYS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349" y="679847"/>
            <a:ext cx="716101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Challenges Learned — And What Works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57349" y="1268909"/>
            <a:ext cx="4054376" cy="939403"/>
          </a:xfrm>
          <a:prstGeom prst="roundRect">
            <a:avLst>
              <a:gd name="adj" fmla="val 208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88020" y="1399580"/>
            <a:ext cx="207444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Environment Separation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88020" y="1675954"/>
            <a:ext cx="379303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Terraform workspaces + remote state prevent cross-environment drift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32201" y="1268909"/>
            <a:ext cx="4054450" cy="939403"/>
          </a:xfrm>
          <a:prstGeom prst="roundRect">
            <a:avLst>
              <a:gd name="adj" fmla="val 208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62872" y="1399580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OIDC Setup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62872" y="1675954"/>
            <a:ext cx="379310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Federated credentials eliminate secrets — worth the initial configuration effort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349" y="2328788"/>
            <a:ext cx="4054376" cy="939403"/>
          </a:xfrm>
          <a:prstGeom prst="roundRect">
            <a:avLst>
              <a:gd name="adj" fmla="val 208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88020" y="2459459"/>
            <a:ext cx="166181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Front Door Routing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8020" y="2735833"/>
            <a:ext cx="379303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Correct backend pool and routing rule config is critical for AKS ingress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32201" y="2328788"/>
            <a:ext cx="4054450" cy="939403"/>
          </a:xfrm>
          <a:prstGeom prst="roundRect">
            <a:avLst>
              <a:gd name="adj" fmla="val 208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62872" y="245945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State Migration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62872" y="2735833"/>
            <a:ext cx="379310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Planning state moves early avoids disruption as the infrastructure grows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349" y="3403699"/>
            <a:ext cx="8229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Outcome: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scalable, multi-tenant SaaS on Azure — </a:t>
            </a:r>
            <a:r>
              <a:rPr lang="en-US" sz="100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Terraform + GitHub Actions + AKS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deliver a production-ready, maintainable platform.</a:t>
            </a:r>
            <a:endParaRPr lang="en-US" sz="1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2AEA01-C21B-97DC-FA0B-D3DC230EF854}"/>
              </a:ext>
            </a:extLst>
          </p:cNvPr>
          <p:cNvSpPr/>
          <p:nvPr/>
        </p:nvSpPr>
        <p:spPr>
          <a:xfrm>
            <a:off x="8046720" y="4832252"/>
            <a:ext cx="1041009" cy="253219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468</Words>
  <Application>Microsoft Office PowerPoint</Application>
  <PresentationFormat>On-screen Show (16:9)</PresentationFormat>
  <Paragraphs>70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Open Sans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Lijaz Salim(UST,IN)</cp:lastModifiedBy>
  <cp:revision>4</cp:revision>
  <dcterms:created xsi:type="dcterms:W3CDTF">2026-06-09T18:55:25Z</dcterms:created>
  <dcterms:modified xsi:type="dcterms:W3CDTF">2026-06-10T09:05:33Z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2026-06-09T20:11:56Z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f2160ef9-62dd-4710-9689-ed1eac604bc5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